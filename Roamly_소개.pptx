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가중치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5C6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A9FB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A8B9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CCBD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B4530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관심사 일치</c:v>
                </c:pt>
                <c:pt idx="1">
                  <c:v>일정 일치</c:v>
                </c:pt>
                <c:pt idx="2">
                  <c:v>여행 스타일</c:v>
                </c:pt>
                <c:pt idx="3">
                  <c:v>교류 방식</c:v>
                </c:pt>
                <c:pt idx="4">
                  <c:v>사용 언어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328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아고다 검색 데이터를 보도한 뉴시스(2026.7.20) 기사 기준입니다. 검색량은 관심도 지표이며 실제 혼자 여행자 비율이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가중치는 supabase_migration_003_matching.sql의 recommend_hosts 점수식(관심사 0.40, 일정 0.20, 여행 스타일 0.15, 교류 방식 0.15, 언어 0.10)과 동일합니다.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3건·90일·2건은 site/js/trust.js의 REVIEW_THRESHOLD, RECENT_DAYS, OUTDATED_REPORTS 값입니다. 3건 규칙은 SQL 트리거(refresh_review_status)에도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전이라 틀만 제작한 슬라이드입니다. 배포 후 실제 URL, 도메인, 리전, 모니터링 내용을 채워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818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Roamly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754880" y="621792"/>
            <a:ext cx="3931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4818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Roamly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818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8D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Roamly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8D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822960" y="1417320"/>
            <a:ext cx="384048" cy="384048"/>
          </a:xfrm>
          <a:prstGeom prst="ellipse">
            <a:avLst/>
          </a:prstGeom>
          <a:solidFill>
            <a:srgbClr val="4A9FB0"/>
          </a:solidFill>
          <a:ln w="6350">
            <a:solidFill>
              <a:srgbClr val="4A9FB0"/>
            </a:solidFill>
            <a:prstDash val="solid"/>
          </a:ln>
        </p:spPr>
      </p:sp>
      <p:pic>
        <p:nvPicPr>
          <p:cNvPr id="3" name="Image 0" descr="FaComp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12" y="1517172"/>
            <a:ext cx="184343" cy="18434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417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SOLO TRAVEL PLATFORM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920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Roamly</a:t>
            </a:r>
            <a:endParaRPr lang="en-US" sz="7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FB9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떠나도, 혼자 헤매지 않도록</a:t>
            </a:r>
            <a:endParaRPr lang="en-US" sz="2200" dirty="0"/>
          </a:p>
        </p:txBody>
      </p:sp>
      <p:sp>
        <p:nvSpPr>
          <p:cNvPr id="7" name="divider"/>
          <p:cNvSpPr/>
          <p:nvPr/>
        </p:nvSpPr>
        <p:spPr>
          <a:xfrm>
            <a:off x="822960" y="3749040"/>
            <a:ext cx="7498080" cy="0"/>
          </a:xfrm>
          <a:prstGeom prst="line">
            <a:avLst/>
          </a:prstGeom>
          <a:noFill/>
          <a:ln w="12700">
            <a:solidFill>
              <a:srgbClr val="2C4B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D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Roamly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D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대상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여행하는 20~40대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D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주제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기능과 시스템 구조</a:t>
            </a:r>
            <a:endParaRPr lang="en-US" sz="13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8D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기획 배경: 1인 여행의 증가</a:t>
            </a:r>
            <a:endParaRPr lang="en-US" sz="2800" dirty="0"/>
          </a:p>
        </p:txBody>
      </p:sp>
      <p:sp>
        <p:nvSpPr>
          <p:cNvPr id="4" name="bg-card"/>
          <p:cNvSpPr/>
          <p:nvPr/>
        </p:nvSpPr>
        <p:spPr>
          <a:xfrm>
            <a:off x="548640" y="1554480"/>
            <a:ext cx="4572000" cy="950976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00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여행에 대한 관심 증가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숙소 검색 데이터에서 1인 여행 관심이 늘고 있어요.</a:t>
            </a:r>
            <a:endParaRPr lang="en-US" sz="1150" dirty="0"/>
          </a:p>
        </p:txBody>
      </p:sp>
      <p:sp>
        <p:nvSpPr>
          <p:cNvPr id="7" name="bg-card"/>
          <p:cNvSpPr/>
          <p:nvPr/>
        </p:nvSpPr>
        <p:spPr>
          <a:xfrm>
            <a:off x="548640" y="2633472"/>
            <a:ext cx="4572000" cy="950976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79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혼자라서 생기는 불편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혼밥·혼자 방문, 낯선 동네에서의 불안, 정보 신뢰 문제를 짚었어요.</a:t>
            </a:r>
            <a:endParaRPr lang="en-US" sz="1150" dirty="0"/>
          </a:p>
        </p:txBody>
      </p:sp>
      <p:sp>
        <p:nvSpPr>
          <p:cNvPr id="10" name="bg-card"/>
          <p:cNvSpPr/>
          <p:nvPr/>
        </p:nvSpPr>
        <p:spPr>
          <a:xfrm>
            <a:off x="548640" y="3712464"/>
            <a:ext cx="4572000" cy="950976"/>
          </a:xfrm>
          <a:prstGeom prst="roundRect">
            <a:avLst>
              <a:gd name="adj" fmla="val 13462"/>
            </a:avLst>
          </a:prstGeom>
          <a:solidFill>
            <a:srgbClr val="DCEDF1"/>
          </a:solidFill>
          <a:ln w="9525">
            <a:solidFill>
              <a:srgbClr val="DCED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58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동네·현지인·취향 기준의 공백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87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관광지 랭킹 중심 서비스가 채우지 못한 부분을 Roamly가 다뤄요.</a:t>
            </a:r>
            <a:endParaRPr lang="en-US" sz="1150" dirty="0"/>
          </a:p>
        </p:txBody>
      </p:sp>
      <p:sp>
        <p:nvSpPr>
          <p:cNvPr id="13" name="stat-panel"/>
          <p:cNvSpPr/>
          <p:nvPr/>
        </p:nvSpPr>
        <p:spPr>
          <a:xfrm>
            <a:off x="5394960" y="1554480"/>
            <a:ext cx="3200400" cy="3108960"/>
          </a:xfrm>
          <a:prstGeom prst="roundRect">
            <a:avLst>
              <a:gd name="adj" fmla="val 4118"/>
            </a:avLst>
          </a:prstGeom>
          <a:solidFill>
            <a:srgbClr val="0D2B33"/>
          </a:solidFill>
          <a:ln w="9525">
            <a:solidFill>
              <a:srgbClr val="0D2B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여행 관심도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103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+9%</a:t>
            </a:r>
            <a:endParaRPr lang="en-US" sz="6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1~5월, 전년 대비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(숙소 검색 데이터 기준)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1인 숙소 검색 +11%  ·  국내 +7%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8D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아고다, 뉴시스 2026.7.20 보도. 검색량은 관심도 지표이며 실제 여행자 비율이 아님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OBJECTIVE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Roamly 프로젝트 핵심 목표</a:t>
            </a:r>
            <a:endParaRPr lang="en-US" sz="2800" dirty="0"/>
          </a:p>
        </p:txBody>
      </p:sp>
      <p:sp>
        <p:nvSpPr>
          <p:cNvPr id="4" name="goal-card"/>
          <p:cNvSpPr/>
          <p:nvPr/>
        </p:nvSpPr>
        <p:spPr>
          <a:xfrm>
            <a:off x="548640" y="1737360"/>
            <a:ext cx="256032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시선의 탐색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관광지 랭킹이 아닌 동네·취향 기준으로 장소를 추천해요.</a:t>
            </a:r>
            <a:endParaRPr lang="en-US" sz="1150" dirty="0"/>
          </a:p>
        </p:txBody>
      </p:sp>
      <p:sp>
        <p:nvSpPr>
          <p:cNvPr id="8" name="goal-card"/>
          <p:cNvSpPr/>
          <p:nvPr/>
        </p:nvSpPr>
        <p:spPr>
          <a:xfrm>
            <a:off x="3291840" y="1737360"/>
            <a:ext cx="256032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없는 연결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취향이 맞는 현지인 5명을 추천하고 1:1로 이어줘요.</a:t>
            </a:r>
            <a:endParaRPr lang="en-US" sz="1150" dirty="0"/>
          </a:p>
        </p:txBody>
      </p:sp>
      <p:sp>
        <p:nvSpPr>
          <p:cNvPr id="12" name="goal-card"/>
          <p:cNvSpPr/>
          <p:nvPr/>
        </p:nvSpPr>
        <p:spPr>
          <a:xfrm>
            <a:off x="6035040" y="1737360"/>
            <a:ext cx="256032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탐색부터 기록까지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탐색, 일정, 예산, 여행 기록을 한 서비스에서 이어가요.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PLATFORM FEATURES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 내 핵심 기능 구성</a:t>
            </a:r>
            <a:endParaRPr lang="en-US" sz="2800" dirty="0"/>
          </a:p>
        </p:txBody>
      </p:sp>
      <p:sp>
        <p:nvSpPr>
          <p:cNvPr id="4" name="feature-card"/>
          <p:cNvSpPr/>
          <p:nvPr/>
        </p:nvSpPr>
        <p:spPr>
          <a:xfrm>
            <a:off x="548640" y="1600200"/>
            <a:ext cx="2560320" cy="1389888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pic>
        <p:nvPicPr>
          <p:cNvPr id="5" name="Image 0" descr="FaMapMarke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0136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동네·장소 탐색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328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코멘트와 생활 팁이 담긴 동네·장소 카드</a:t>
            </a:r>
            <a:endParaRPr lang="en-US" sz="1050" dirty="0"/>
          </a:p>
        </p:txBody>
      </p:sp>
      <p:sp>
        <p:nvSpPr>
          <p:cNvPr id="8" name="feature-card"/>
          <p:cNvSpPr/>
          <p:nvPr/>
        </p:nvSpPr>
        <p:spPr>
          <a:xfrm>
            <a:off x="3291840" y="1600200"/>
            <a:ext cx="2560320" cy="1389888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pic>
        <p:nvPicPr>
          <p:cNvPr id="9" name="Image 1" descr="FaSuit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013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04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여행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520440" y="25328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일정, 예산, 준비물, 지도, 사진 기록</a:t>
            </a:r>
            <a:endParaRPr lang="en-US" sz="1050" dirty="0"/>
          </a:p>
        </p:txBody>
      </p:sp>
      <p:sp>
        <p:nvSpPr>
          <p:cNvPr id="12" name="feature-card"/>
          <p:cNvSpPr/>
          <p:nvPr/>
        </p:nvSpPr>
        <p:spPr>
          <a:xfrm>
            <a:off x="6035040" y="1600200"/>
            <a:ext cx="2560320" cy="1389888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pic>
        <p:nvPicPr>
          <p:cNvPr id="13" name="Image 2" descr="FaBo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0136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뭐 하지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25328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시간·기분·날씨로 갈 곳 추천</a:t>
            </a:r>
            <a:endParaRPr lang="en-US" sz="1050" dirty="0"/>
          </a:p>
        </p:txBody>
      </p:sp>
      <p:sp>
        <p:nvSpPr>
          <p:cNvPr id="16" name="feature-card"/>
          <p:cNvSpPr/>
          <p:nvPr/>
        </p:nvSpPr>
        <p:spPr>
          <a:xfrm>
            <a:off x="548640" y="3154680"/>
            <a:ext cx="2560320" cy="1389888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pic>
        <p:nvPicPr>
          <p:cNvPr id="17" name="Image 3" descr="FaUserFrien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5584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매칭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087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맞는 현지인 5명 추천, 요청·채팅·후기</a:t>
            </a:r>
            <a:endParaRPr lang="en-US" sz="1050" dirty="0"/>
          </a:p>
        </p:txBody>
      </p:sp>
      <p:sp>
        <p:nvSpPr>
          <p:cNvPr id="20" name="feature-card"/>
          <p:cNvSpPr/>
          <p:nvPr/>
        </p:nvSpPr>
        <p:spPr>
          <a:xfrm>
            <a:off x="3291840" y="3154680"/>
            <a:ext cx="2560320" cy="1389888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pic>
        <p:nvPicPr>
          <p:cNvPr id="21" name="Image 4" descr="FaUtensi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355848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520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식품 리뷰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3520440" y="4087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리뷰, 질문과 답변, 비교, 내 입맛 맞춤</a:t>
            </a:r>
            <a:endParaRPr lang="en-US" sz="1050" dirty="0"/>
          </a:p>
        </p:txBody>
      </p:sp>
      <p:sp>
        <p:nvSpPr>
          <p:cNvPr id="24" name="feature-card"/>
          <p:cNvSpPr/>
          <p:nvPr/>
        </p:nvSpPr>
        <p:spPr>
          <a:xfrm>
            <a:off x="6035040" y="3154680"/>
            <a:ext cx="2560320" cy="1389888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pic>
        <p:nvPicPr>
          <p:cNvPr id="25" name="Image 5" descr="FaShield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355848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2636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체계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263640" y="4087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선언, 현장 체크인, 신고·검수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FLOW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전 · 중 · 후의 사용 흐름</a:t>
            </a:r>
            <a:endParaRPr lang="en-US" sz="2800" dirty="0"/>
          </a:p>
        </p:txBody>
      </p:sp>
      <p:sp>
        <p:nvSpPr>
          <p:cNvPr id="4" name="flow-card"/>
          <p:cNvSpPr/>
          <p:nvPr/>
        </p:nvSpPr>
        <p:spPr>
          <a:xfrm>
            <a:off x="548640" y="160020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4A9FB0"/>
          </a:solidFill>
          <a:ln w="6350">
            <a:solidFill>
              <a:srgbClr val="4A9FB0"/>
            </a:solidFill>
            <a:prstDash val="solid"/>
          </a:ln>
        </p:spPr>
      </p:sp>
      <p:pic>
        <p:nvPicPr>
          <p:cNvPr id="6" name="Image 0" descr="FaCalenda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019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전</a:t>
            </a:r>
            <a:endParaRPr lang="en-US" sz="1800" dirty="0"/>
          </a:p>
        </p:txBody>
      </p:sp>
      <p:pic>
        <p:nvPicPr>
          <p:cNvPr id="8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32888"/>
            <a:ext cx="164592" cy="1645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688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선택</a:t>
            </a:r>
            <a:endParaRPr lang="en-US" sz="1200" dirty="0"/>
          </a:p>
        </p:txBody>
      </p:sp>
      <p:pic>
        <p:nvPicPr>
          <p:cNvPr id="10" name="Image 2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16936"/>
            <a:ext cx="164592" cy="16459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8529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도시·동네 탐색</a:t>
            </a:r>
            <a:endParaRPr lang="en-US" sz="1200" dirty="0"/>
          </a:p>
        </p:txBody>
      </p:sp>
      <p:pic>
        <p:nvPicPr>
          <p:cNvPr id="12" name="Image 3" descr="Fa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00984"/>
            <a:ext cx="164592" cy="16459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32369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저장</a:t>
            </a:r>
            <a:endParaRPr lang="en-US" sz="1200" dirty="0"/>
          </a:p>
        </p:txBody>
      </p:sp>
      <p:pic>
        <p:nvPicPr>
          <p:cNvPr id="14" name="Image 4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85032"/>
            <a:ext cx="164592" cy="16459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43000" y="362102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일정·예산·준비물</a:t>
            </a:r>
            <a:endParaRPr lang="en-US" sz="1200" dirty="0"/>
          </a:p>
        </p:txBody>
      </p:sp>
      <p:sp>
        <p:nvSpPr>
          <p:cNvPr id="16" name="flow-card"/>
          <p:cNvSpPr/>
          <p:nvPr/>
        </p:nvSpPr>
        <p:spPr>
          <a:xfrm>
            <a:off x="3291840" y="160020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17" name="icon-circle"/>
          <p:cNvSpPr/>
          <p:nvPr/>
        </p:nvSpPr>
        <p:spPr>
          <a:xfrm>
            <a:off x="3520440" y="1783080"/>
            <a:ext cx="457200" cy="45720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8" name="Image 5" descr="FaRou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1901952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1148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중</a:t>
            </a:r>
            <a:endParaRPr lang="en-US" sz="1800" dirty="0"/>
          </a:p>
        </p:txBody>
      </p:sp>
      <p:pic>
        <p:nvPicPr>
          <p:cNvPr id="20" name="Image 6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2532888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3886200" y="24688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일정 확인</a:t>
            </a:r>
            <a:endParaRPr lang="en-US" sz="1200" dirty="0"/>
          </a:p>
        </p:txBody>
      </p:sp>
      <p:pic>
        <p:nvPicPr>
          <p:cNvPr id="22" name="Image 7" descr="Fa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2916936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3886200" y="28529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‘지금 뭐 하지?’ 추천</a:t>
            </a:r>
            <a:endParaRPr lang="en-US" sz="1200" dirty="0"/>
          </a:p>
        </p:txBody>
      </p:sp>
      <p:pic>
        <p:nvPicPr>
          <p:cNvPr id="24" name="Image 8" descr="Fa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6160" y="3300984"/>
            <a:ext cx="164592" cy="164592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3886200" y="32369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지출 기록</a:t>
            </a:r>
            <a:endParaRPr lang="en-US" sz="1200" dirty="0"/>
          </a:p>
        </p:txBody>
      </p:sp>
      <p:pic>
        <p:nvPicPr>
          <p:cNvPr id="26" name="Image 9" descr="FaChec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3685032"/>
            <a:ext cx="164592" cy="164592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3886200" y="362102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체크·사진·메모</a:t>
            </a:r>
            <a:endParaRPr lang="en-US" sz="1200" dirty="0"/>
          </a:p>
        </p:txBody>
      </p:sp>
      <p:sp>
        <p:nvSpPr>
          <p:cNvPr id="28" name="flow-card"/>
          <p:cNvSpPr/>
          <p:nvPr/>
        </p:nvSpPr>
        <p:spPr>
          <a:xfrm>
            <a:off x="6035040" y="160020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29" name="icon-circle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4A9FB0"/>
          </a:solidFill>
          <a:ln w="6350">
            <a:solidFill>
              <a:srgbClr val="4A9FB0"/>
            </a:solidFill>
            <a:prstDash val="solid"/>
          </a:ln>
        </p:spPr>
      </p:sp>
      <p:pic>
        <p:nvPicPr>
          <p:cNvPr id="30" name="Image 10" descr="FaPe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2512" y="1901952"/>
            <a:ext cx="219456" cy="219456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68580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후</a:t>
            </a:r>
            <a:endParaRPr lang="en-US" sz="1800" dirty="0"/>
          </a:p>
        </p:txBody>
      </p:sp>
      <p:pic>
        <p:nvPicPr>
          <p:cNvPr id="32" name="Image 11" descr="FaCheck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2532888"/>
            <a:ext cx="164592" cy="164592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629400" y="24688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아카이브</a:t>
            </a:r>
            <a:endParaRPr lang="en-US" sz="1200" dirty="0"/>
          </a:p>
        </p:txBody>
      </p:sp>
      <p:pic>
        <p:nvPicPr>
          <p:cNvPr id="34" name="Image 12" descr="FaCheck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2916936"/>
            <a:ext cx="164592" cy="164592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6629400" y="28529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장소에 추천 작성</a:t>
            </a:r>
            <a:endParaRPr lang="en-US" sz="1200" dirty="0"/>
          </a:p>
        </p:txBody>
      </p:sp>
      <p:pic>
        <p:nvPicPr>
          <p:cNvPr id="36" name="Image 13" descr="FaCheck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9360" y="3300984"/>
            <a:ext cx="164592" cy="164592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6629400" y="32369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추천에 신뢰 배지 표시</a:t>
            </a:r>
            <a:endParaRPr lang="en-US" sz="1200" dirty="0"/>
          </a:p>
        </p:txBody>
      </p:sp>
      <p:pic>
        <p:nvPicPr>
          <p:cNvPr id="38" name="Image 14" descr="FaCheck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9360" y="3685032"/>
            <a:ext cx="164592" cy="164592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6629400" y="362102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후기 작성</a:t>
            </a:r>
            <a:endParaRPr lang="en-US" sz="1200" dirty="0"/>
          </a:p>
        </p:txBody>
      </p:sp>
      <p:sp>
        <p:nvSpPr>
          <p:cNvPr id="40" name="host-flow"/>
          <p:cNvSpPr/>
          <p:nvPr/>
        </p:nvSpPr>
        <p:spPr>
          <a:xfrm>
            <a:off x="548640" y="4224528"/>
            <a:ext cx="8046720" cy="457200"/>
          </a:xfrm>
          <a:prstGeom prst="roundRect">
            <a:avLst>
              <a:gd name="adj" fmla="val 28000"/>
            </a:avLst>
          </a:prstGeom>
          <a:solidFill>
            <a:srgbClr val="DCEDF1"/>
          </a:solidFill>
          <a:ln w="9525">
            <a:solidFill>
              <a:srgbClr val="DCEDF1"/>
            </a:solidFill>
            <a:prstDash val="solid"/>
          </a:ln>
        </p:spPr>
      </p:sp>
      <p:sp>
        <p:nvSpPr>
          <p:cNvPr id="41" name="Text 24"/>
          <p:cNvSpPr txBox="1"/>
          <p:nvPr/>
        </p:nvSpPr>
        <p:spPr>
          <a:xfrm>
            <a:off x="777240" y="4224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현지인(호스트) 흐름   </a:t>
            </a:r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가입 → 프로그램 등록 → 신청 수락·거절 → 후기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 화면</a:t>
            </a:r>
            <a:endParaRPr lang="en-US" sz="2800" dirty="0"/>
          </a:p>
        </p:txBody>
      </p:sp>
      <p:sp>
        <p:nvSpPr>
          <p:cNvPr id="4" name="phone-frame"/>
          <p:cNvSpPr/>
          <p:nvPr/>
        </p:nvSpPr>
        <p:spPr>
          <a:xfrm>
            <a:off x="548640" y="1463040"/>
            <a:ext cx="1481328" cy="2834640"/>
          </a:xfrm>
          <a:prstGeom prst="roundRect">
            <a:avLst>
              <a:gd name="adj" fmla="val 9877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첫 화면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527048"/>
            <a:ext cx="1353312" cy="2706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</a:t>
            </a:r>
            <a:endParaRPr lang="en-US" sz="1200" dirty="0"/>
          </a:p>
        </p:txBody>
      </p:sp>
      <p:sp>
        <p:nvSpPr>
          <p:cNvPr id="7" name="phone-frame"/>
          <p:cNvSpPr/>
          <p:nvPr/>
        </p:nvSpPr>
        <p:spPr>
          <a:xfrm>
            <a:off x="2212848" y="1463040"/>
            <a:ext cx="1481328" cy="2834640"/>
          </a:xfrm>
          <a:prstGeom prst="roundRect">
            <a:avLst>
              <a:gd name="adj" fmla="val 9877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동네·장소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76856" y="1527048"/>
            <a:ext cx="1353312" cy="2706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12848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동네·장소</a:t>
            </a:r>
            <a:endParaRPr lang="en-US" sz="1200" dirty="0"/>
          </a:p>
        </p:txBody>
      </p:sp>
      <p:sp>
        <p:nvSpPr>
          <p:cNvPr id="10" name="phone-frame"/>
          <p:cNvSpPr/>
          <p:nvPr/>
        </p:nvSpPr>
        <p:spPr>
          <a:xfrm>
            <a:off x="3877056" y="1463040"/>
            <a:ext cx="1481328" cy="2834640"/>
          </a:xfrm>
          <a:prstGeom prst="roundRect">
            <a:avLst>
              <a:gd name="adj" fmla="val 9877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2" descr="지금 뭐 하지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41064" y="1527048"/>
            <a:ext cx="1353312" cy="27066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77056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뭐 하지</a:t>
            </a:r>
            <a:endParaRPr lang="en-US" sz="1200" dirty="0"/>
          </a:p>
        </p:txBody>
      </p:sp>
      <p:sp>
        <p:nvSpPr>
          <p:cNvPr id="13" name="phone-frame"/>
          <p:cNvSpPr/>
          <p:nvPr/>
        </p:nvSpPr>
        <p:spPr>
          <a:xfrm>
            <a:off x="5541264" y="1463040"/>
            <a:ext cx="1481328" cy="2834640"/>
          </a:xfrm>
          <a:prstGeom prst="roundRect">
            <a:avLst>
              <a:gd name="adj" fmla="val 9877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3" descr="현지인 매칭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05272" y="1527048"/>
            <a:ext cx="1353312" cy="27066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541264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매칭</a:t>
            </a:r>
            <a:endParaRPr lang="en-US" sz="1200" dirty="0"/>
          </a:p>
        </p:txBody>
      </p:sp>
      <p:sp>
        <p:nvSpPr>
          <p:cNvPr id="16" name="phone-frame"/>
          <p:cNvSpPr/>
          <p:nvPr/>
        </p:nvSpPr>
        <p:spPr>
          <a:xfrm>
            <a:off x="7205472" y="1463040"/>
            <a:ext cx="1481328" cy="2834640"/>
          </a:xfrm>
          <a:prstGeom prst="roundRect">
            <a:avLst>
              <a:gd name="adj" fmla="val 9877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4" descr="로컬 프로그램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69480" y="1527048"/>
            <a:ext cx="1353312" cy="270662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205472" y="44348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프로그램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475488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ARCHITECTURE · 01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754880" y="6217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· 동네 · 장소</a:t>
            </a:r>
            <a:endParaRPr lang="en-US" sz="2600" dirty="0"/>
          </a:p>
        </p:txBody>
      </p:sp>
      <p:sp>
        <p:nvSpPr>
          <p:cNvPr id="4" name="phone-panel"/>
          <p:cNvSpPr/>
          <p:nvPr/>
        </p:nvSpPr>
        <p:spPr>
          <a:xfrm>
            <a:off x="548640" y="502920"/>
            <a:ext cx="3840480" cy="4114800"/>
          </a:xfrm>
          <a:prstGeom prst="roundRect">
            <a:avLst>
              <a:gd name="adj" fmla="val 3333"/>
            </a:avLst>
          </a:prstGeom>
          <a:solidFill>
            <a:srgbClr val="DCEDF1"/>
          </a:solidFill>
          <a:ln w="9525">
            <a:solidFill>
              <a:srgbClr val="DCEDF1"/>
            </a:solidFill>
            <a:prstDash val="solid"/>
          </a:ln>
        </p:spPr>
      </p:sp>
      <p:sp>
        <p:nvSpPr>
          <p:cNvPr id="5" name="phone-frame"/>
          <p:cNvSpPr/>
          <p:nvPr/>
        </p:nvSpPr>
        <p:spPr>
          <a:xfrm>
            <a:off x="868680" y="777240"/>
            <a:ext cx="1554480" cy="2980944"/>
          </a:xfrm>
          <a:prstGeom prst="roundRect">
            <a:avLst>
              <a:gd name="adj" fmla="val 9412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화면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2688" y="841248"/>
            <a:ext cx="1426464" cy="2852928"/>
          </a:xfrm>
          <a:prstGeom prst="rect">
            <a:avLst/>
          </a:prstGeom>
        </p:spPr>
      </p:pic>
      <p:sp>
        <p:nvSpPr>
          <p:cNvPr id="7" name="phone-frame"/>
          <p:cNvSpPr/>
          <p:nvPr/>
        </p:nvSpPr>
        <p:spPr>
          <a:xfrm>
            <a:off x="2514600" y="1325880"/>
            <a:ext cx="1554480" cy="2980944"/>
          </a:xfrm>
          <a:prstGeom prst="roundRect">
            <a:avLst>
              <a:gd name="adj" fmla="val 9412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화면 2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78608" y="1389888"/>
            <a:ext cx="1426464" cy="2852928"/>
          </a:xfrm>
          <a:prstGeom prst="rect">
            <a:avLst/>
          </a:prstGeom>
        </p:spPr>
      </p:pic>
      <p:sp>
        <p:nvSpPr>
          <p:cNvPr id="9" name="icon-circle"/>
          <p:cNvSpPr/>
          <p:nvPr/>
        </p:nvSpPr>
        <p:spPr>
          <a:xfrm>
            <a:off x="4754880" y="158191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0" name="Image 2" descr="FaHo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78" y="1677010"/>
            <a:ext cx="175565" cy="1755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57800" y="15087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선택·검색, 미오픈 도시는 ‘도시 요청’</a:t>
            </a:r>
            <a:endParaRPr lang="en-US" sz="1200" dirty="0"/>
          </a:p>
        </p:txBody>
      </p:sp>
      <p:sp>
        <p:nvSpPr>
          <p:cNvPr id="12" name="icon-circle"/>
          <p:cNvSpPr/>
          <p:nvPr/>
        </p:nvSpPr>
        <p:spPr>
          <a:xfrm>
            <a:off x="4754880" y="222199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3" name="Image 3" descr="FaHe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978" y="2317090"/>
            <a:ext cx="175565" cy="1755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57800" y="214884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온보딩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#/onboarding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3문항으로 동네를 취향순 정렬</a:t>
            </a:r>
            <a:endParaRPr lang="en-US" sz="1200" dirty="0"/>
          </a:p>
        </p:txBody>
      </p:sp>
      <p:sp>
        <p:nvSpPr>
          <p:cNvPr id="15" name="icon-circle"/>
          <p:cNvSpPr/>
          <p:nvPr/>
        </p:nvSpPr>
        <p:spPr>
          <a:xfrm>
            <a:off x="4754880" y="286207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6" name="Image 4" descr="FaC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978" y="2957170"/>
            <a:ext cx="175565" cy="17556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57800" y="278892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· 동네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#/city  #/n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분위기, 태그 필터, 장소 목록</a:t>
            </a:r>
            <a:endParaRPr lang="en-US" sz="1200" dirty="0"/>
          </a:p>
        </p:txBody>
      </p:sp>
      <p:sp>
        <p:nvSpPr>
          <p:cNvPr id="18" name="icon-circle"/>
          <p:cNvSpPr/>
          <p:nvPr/>
        </p:nvSpPr>
        <p:spPr>
          <a:xfrm>
            <a:off x="4754880" y="350215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9" name="Image 5" descr="FaMapP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978" y="3597250"/>
            <a:ext cx="175565" cy="17556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57800" y="34290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상세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#/p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코멘트·생활 팁·신뢰 배지</a:t>
            </a:r>
            <a:endParaRPr lang="en-US" sz="1200" dirty="0"/>
          </a:p>
        </p:txBody>
      </p:sp>
      <p:sp>
        <p:nvSpPr>
          <p:cNvPr id="21" name="icon-circle"/>
          <p:cNvSpPr/>
          <p:nvPr/>
        </p:nvSpPr>
        <p:spPr>
          <a:xfrm>
            <a:off x="4754880" y="414223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22" name="Image 6" descr="FaBo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978" y="4237330"/>
            <a:ext cx="175565" cy="17556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257800" y="40690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뭐 하지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#/explore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시간·기분·날씨로 추천과 이유 안내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475488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ARCHITECTURE · 02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754880" y="6217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여행 · 기록</a:t>
            </a:r>
            <a:endParaRPr lang="en-US" sz="2600" dirty="0"/>
          </a:p>
        </p:txBody>
      </p:sp>
      <p:sp>
        <p:nvSpPr>
          <p:cNvPr id="4" name="phone-panel"/>
          <p:cNvSpPr/>
          <p:nvPr/>
        </p:nvSpPr>
        <p:spPr>
          <a:xfrm>
            <a:off x="548640" y="502920"/>
            <a:ext cx="3840480" cy="4114800"/>
          </a:xfrm>
          <a:prstGeom prst="roundRect">
            <a:avLst>
              <a:gd name="adj" fmla="val 3333"/>
            </a:avLst>
          </a:prstGeom>
          <a:solidFill>
            <a:srgbClr val="DCEDF1"/>
          </a:solidFill>
          <a:ln w="9525">
            <a:solidFill>
              <a:srgbClr val="DCEDF1"/>
            </a:solidFill>
            <a:prstDash val="solid"/>
          </a:ln>
        </p:spPr>
      </p:sp>
      <p:sp>
        <p:nvSpPr>
          <p:cNvPr id="5" name="phone-frame"/>
          <p:cNvSpPr/>
          <p:nvPr/>
        </p:nvSpPr>
        <p:spPr>
          <a:xfrm>
            <a:off x="868680" y="777240"/>
            <a:ext cx="1554480" cy="2980944"/>
          </a:xfrm>
          <a:prstGeom prst="roundRect">
            <a:avLst>
              <a:gd name="adj" fmla="val 9412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화면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2688" y="841248"/>
            <a:ext cx="1426464" cy="2852928"/>
          </a:xfrm>
          <a:prstGeom prst="rect">
            <a:avLst/>
          </a:prstGeom>
        </p:spPr>
      </p:pic>
      <p:sp>
        <p:nvSpPr>
          <p:cNvPr id="7" name="phone-frame"/>
          <p:cNvSpPr/>
          <p:nvPr/>
        </p:nvSpPr>
        <p:spPr>
          <a:xfrm>
            <a:off x="2514600" y="1325880"/>
            <a:ext cx="1554480" cy="2980944"/>
          </a:xfrm>
          <a:prstGeom prst="roundRect">
            <a:avLst>
              <a:gd name="adj" fmla="val 9412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화면 2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78608" y="1389888"/>
            <a:ext cx="1426464" cy="2852928"/>
          </a:xfrm>
          <a:prstGeom prst="rect">
            <a:avLst/>
          </a:prstGeom>
        </p:spPr>
      </p:pic>
      <p:sp>
        <p:nvSpPr>
          <p:cNvPr id="9" name="icon-circle"/>
          <p:cNvSpPr/>
          <p:nvPr/>
        </p:nvSpPr>
        <p:spPr>
          <a:xfrm>
            <a:off x="4754880" y="158191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0" name="Image 2" descr="FaSuit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78" y="1677010"/>
            <a:ext cx="175565" cy="1755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57800" y="15087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여행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#/trips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저장함, 여행 목록, 도시별 기록</a:t>
            </a:r>
            <a:endParaRPr lang="en-US" sz="1200" dirty="0"/>
          </a:p>
        </p:txBody>
      </p:sp>
      <p:sp>
        <p:nvSpPr>
          <p:cNvPr id="12" name="icon-circle"/>
          <p:cNvSpPr/>
          <p:nvPr/>
        </p:nvSpPr>
        <p:spPr>
          <a:xfrm>
            <a:off x="4754880" y="222199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3" name="Image 3" descr="FaPl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978" y="2317090"/>
            <a:ext cx="175565" cy="1755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57800" y="214884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여행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#/trips/new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도시와 기간 선택 (최대 30일)</a:t>
            </a:r>
            <a:endParaRPr lang="en-US" sz="1200" dirty="0"/>
          </a:p>
        </p:txBody>
      </p:sp>
      <p:sp>
        <p:nvSpPr>
          <p:cNvPr id="15" name="icon-circle"/>
          <p:cNvSpPr/>
          <p:nvPr/>
        </p:nvSpPr>
        <p:spPr>
          <a:xfrm>
            <a:off x="4754880" y="286207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6" name="Image 4" descr="FaRou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978" y="2957170"/>
            <a:ext cx="175565" cy="17556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57800" y="278892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상세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#/trip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일정·예산·준비물·지도</a:t>
            </a:r>
            <a:endParaRPr lang="en-US" sz="1200" dirty="0"/>
          </a:p>
        </p:txBody>
      </p:sp>
      <p:sp>
        <p:nvSpPr>
          <p:cNvPr id="18" name="icon-circle"/>
          <p:cNvSpPr/>
          <p:nvPr/>
        </p:nvSpPr>
        <p:spPr>
          <a:xfrm>
            <a:off x="4754880" y="350215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9" name="Image 5" descr="FaCamer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978" y="3597250"/>
            <a:ext cx="175565" cy="17556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57800" y="34290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기록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#/trip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체크, 메모, 사진(장소당 10장)</a:t>
            </a:r>
            <a:endParaRPr lang="en-US" sz="1200" dirty="0"/>
          </a:p>
        </p:txBody>
      </p:sp>
      <p:sp>
        <p:nvSpPr>
          <p:cNvPr id="21" name="icon-circle"/>
          <p:cNvSpPr/>
          <p:nvPr/>
        </p:nvSpPr>
        <p:spPr>
          <a:xfrm>
            <a:off x="4754880" y="414223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22" name="Image 6" descr="FaPe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978" y="4237330"/>
            <a:ext cx="175565" cy="17556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257800" y="40690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글 쓰기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#/write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선언·체크인·협찬 표기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475488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ARCHITECTURE · 03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754880" y="6217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매칭</a:t>
            </a:r>
            <a:endParaRPr lang="en-US" sz="2600" dirty="0"/>
          </a:p>
        </p:txBody>
      </p:sp>
      <p:sp>
        <p:nvSpPr>
          <p:cNvPr id="4" name="phone-panel"/>
          <p:cNvSpPr/>
          <p:nvPr/>
        </p:nvSpPr>
        <p:spPr>
          <a:xfrm>
            <a:off x="548640" y="502920"/>
            <a:ext cx="3840480" cy="4114800"/>
          </a:xfrm>
          <a:prstGeom prst="roundRect">
            <a:avLst>
              <a:gd name="adj" fmla="val 3333"/>
            </a:avLst>
          </a:prstGeom>
          <a:solidFill>
            <a:srgbClr val="DCEDF1"/>
          </a:solidFill>
          <a:ln w="9525">
            <a:solidFill>
              <a:srgbClr val="DCEDF1"/>
            </a:solidFill>
            <a:prstDash val="solid"/>
          </a:ln>
        </p:spPr>
      </p:sp>
      <p:sp>
        <p:nvSpPr>
          <p:cNvPr id="5" name="phone-frame"/>
          <p:cNvSpPr/>
          <p:nvPr/>
        </p:nvSpPr>
        <p:spPr>
          <a:xfrm>
            <a:off x="868680" y="777240"/>
            <a:ext cx="1554480" cy="2980944"/>
          </a:xfrm>
          <a:prstGeom prst="roundRect">
            <a:avLst>
              <a:gd name="adj" fmla="val 9412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화면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2688" y="841248"/>
            <a:ext cx="1426464" cy="2852928"/>
          </a:xfrm>
          <a:prstGeom prst="rect">
            <a:avLst/>
          </a:prstGeom>
        </p:spPr>
      </p:pic>
      <p:sp>
        <p:nvSpPr>
          <p:cNvPr id="7" name="phone-frame"/>
          <p:cNvSpPr/>
          <p:nvPr/>
        </p:nvSpPr>
        <p:spPr>
          <a:xfrm>
            <a:off x="2514600" y="1325880"/>
            <a:ext cx="1554480" cy="2980944"/>
          </a:xfrm>
          <a:prstGeom prst="roundRect">
            <a:avLst>
              <a:gd name="adj" fmla="val 9412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화면 2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78608" y="1389888"/>
            <a:ext cx="1426464" cy="2852928"/>
          </a:xfrm>
          <a:prstGeom prst="rect">
            <a:avLst/>
          </a:prstGeom>
        </p:spPr>
      </p:pic>
      <p:sp>
        <p:nvSpPr>
          <p:cNvPr id="9" name="icon-circle"/>
          <p:cNvSpPr/>
          <p:nvPr/>
        </p:nvSpPr>
        <p:spPr>
          <a:xfrm>
            <a:off x="4754880" y="158191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0" name="Image 2" descr="FaSlider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78" y="1677010"/>
            <a:ext cx="175565" cy="1755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57800" y="15087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선택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#/match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관심사·조건을 골라 현지인 5명 추천</a:t>
            </a:r>
            <a:endParaRPr lang="en-US" sz="1200" dirty="0"/>
          </a:p>
        </p:txBody>
      </p:sp>
      <p:sp>
        <p:nvSpPr>
          <p:cNvPr id="12" name="icon-circle"/>
          <p:cNvSpPr/>
          <p:nvPr/>
        </p:nvSpPr>
        <p:spPr>
          <a:xfrm>
            <a:off x="4754880" y="222199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3" name="Image 3" descr="FaUser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978" y="2317090"/>
            <a:ext cx="175565" cy="1755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57800" y="214884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프로필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#/mate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소개·언어·가능 일정·후기, 요청 양식</a:t>
            </a:r>
            <a:endParaRPr lang="en-US" sz="1200" dirty="0"/>
          </a:p>
        </p:txBody>
      </p:sp>
      <p:sp>
        <p:nvSpPr>
          <p:cNvPr id="15" name="icon-circle"/>
          <p:cNvSpPr/>
          <p:nvPr/>
        </p:nvSpPr>
        <p:spPr>
          <a:xfrm>
            <a:off x="4754880" y="286207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6" name="Image 4" descr="FaCalendar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978" y="2957170"/>
            <a:ext cx="175565" cy="17556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57800" y="278892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매칭 요청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#/match-requests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대기·수락·거절·취소·완료 관리</a:t>
            </a:r>
            <a:endParaRPr lang="en-US" sz="1200" dirty="0"/>
          </a:p>
        </p:txBody>
      </p:sp>
      <p:sp>
        <p:nvSpPr>
          <p:cNvPr id="18" name="icon-circle"/>
          <p:cNvSpPr/>
          <p:nvPr/>
        </p:nvSpPr>
        <p:spPr>
          <a:xfrm>
            <a:off x="4754880" y="350215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9" name="Image 5" descr="FaCommen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978" y="3597250"/>
            <a:ext cx="175565" cy="17556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57800" y="34290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#/messages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채팅, 읽음 처리</a:t>
            </a:r>
            <a:endParaRPr lang="en-US" sz="1200" dirty="0"/>
          </a:p>
        </p:txBody>
      </p:sp>
      <p:sp>
        <p:nvSpPr>
          <p:cNvPr id="21" name="icon-circle"/>
          <p:cNvSpPr/>
          <p:nvPr/>
        </p:nvSpPr>
        <p:spPr>
          <a:xfrm>
            <a:off x="4754880" y="414223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22" name="Image 6" descr="FaSta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978" y="4237330"/>
            <a:ext cx="175565" cy="17556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257800" y="40690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#/mate-review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만남 완료 후 후기 작성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475488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ARCHITECTURE · 04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754880" y="6217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· 식품</a:t>
            </a:r>
            <a:endParaRPr lang="en-US" sz="2600" dirty="0"/>
          </a:p>
        </p:txBody>
      </p:sp>
      <p:sp>
        <p:nvSpPr>
          <p:cNvPr id="4" name="phone-panel"/>
          <p:cNvSpPr/>
          <p:nvPr/>
        </p:nvSpPr>
        <p:spPr>
          <a:xfrm>
            <a:off x="548640" y="502920"/>
            <a:ext cx="3840480" cy="4114800"/>
          </a:xfrm>
          <a:prstGeom prst="roundRect">
            <a:avLst>
              <a:gd name="adj" fmla="val 3333"/>
            </a:avLst>
          </a:prstGeom>
          <a:solidFill>
            <a:srgbClr val="DCEDF1"/>
          </a:solidFill>
          <a:ln w="9525">
            <a:solidFill>
              <a:srgbClr val="DCEDF1"/>
            </a:solidFill>
            <a:prstDash val="solid"/>
          </a:ln>
        </p:spPr>
      </p:sp>
      <p:sp>
        <p:nvSpPr>
          <p:cNvPr id="5" name="phone-frame"/>
          <p:cNvSpPr/>
          <p:nvPr/>
        </p:nvSpPr>
        <p:spPr>
          <a:xfrm>
            <a:off x="868680" y="777240"/>
            <a:ext cx="1554480" cy="2980944"/>
          </a:xfrm>
          <a:prstGeom prst="roundRect">
            <a:avLst>
              <a:gd name="adj" fmla="val 9412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화면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2688" y="841248"/>
            <a:ext cx="1426464" cy="2852928"/>
          </a:xfrm>
          <a:prstGeom prst="rect">
            <a:avLst/>
          </a:prstGeom>
        </p:spPr>
      </p:pic>
      <p:sp>
        <p:nvSpPr>
          <p:cNvPr id="7" name="phone-frame"/>
          <p:cNvSpPr/>
          <p:nvPr/>
        </p:nvSpPr>
        <p:spPr>
          <a:xfrm>
            <a:off x="2514600" y="1325880"/>
            <a:ext cx="1554480" cy="2980944"/>
          </a:xfrm>
          <a:prstGeom prst="roundRect">
            <a:avLst>
              <a:gd name="adj" fmla="val 9412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화면 2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78608" y="1389888"/>
            <a:ext cx="1426464" cy="2852928"/>
          </a:xfrm>
          <a:prstGeom prst="rect">
            <a:avLst/>
          </a:prstGeom>
        </p:spPr>
      </p:pic>
      <p:sp>
        <p:nvSpPr>
          <p:cNvPr id="9" name="icon-circle"/>
          <p:cNvSpPr/>
          <p:nvPr/>
        </p:nvSpPr>
        <p:spPr>
          <a:xfrm>
            <a:off x="4754880" y="158191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0" name="Image 2" descr="FaWal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78" y="1677010"/>
            <a:ext cx="175565" cy="1755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57800" y="15087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목록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#/programs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도시·유형별 로컬 프로그램 탐색</a:t>
            </a:r>
            <a:endParaRPr lang="en-US" sz="1200" dirty="0"/>
          </a:p>
        </p:txBody>
      </p:sp>
      <p:sp>
        <p:nvSpPr>
          <p:cNvPr id="12" name="icon-circle"/>
          <p:cNvSpPr/>
          <p:nvPr/>
        </p:nvSpPr>
        <p:spPr>
          <a:xfrm>
            <a:off x="4754880" y="222199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3" name="Image 3" descr="FaIdBad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978" y="2317090"/>
            <a:ext cx="175565" cy="1755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57800" y="214884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· 호스트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#/program  #/host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만나는 곳·남은 자리·안전 안내</a:t>
            </a:r>
            <a:endParaRPr lang="en-US" sz="1200" dirty="0"/>
          </a:p>
        </p:txBody>
      </p:sp>
      <p:sp>
        <p:nvSpPr>
          <p:cNvPr id="15" name="icon-circle"/>
          <p:cNvSpPr/>
          <p:nvPr/>
        </p:nvSpPr>
        <p:spPr>
          <a:xfrm>
            <a:off x="4754880" y="286207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6" name="Image 4" descr="FaClipboardLi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978" y="2957170"/>
            <a:ext cx="175565" cy="17556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57800" y="278892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센터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#/host-center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가입, 프로그램 등록, 신청 수락·거절</a:t>
            </a:r>
            <a:endParaRPr lang="en-US" sz="1200" dirty="0"/>
          </a:p>
        </p:txBody>
      </p:sp>
      <p:sp>
        <p:nvSpPr>
          <p:cNvPr id="18" name="icon-circle"/>
          <p:cNvSpPr/>
          <p:nvPr/>
        </p:nvSpPr>
        <p:spPr>
          <a:xfrm>
            <a:off x="4754880" y="350215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9" name="Image 5" descr="FaSearc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978" y="3597250"/>
            <a:ext cx="175565" cy="17556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57800" y="34290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 목록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#/food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검색·정렬, 내 입맛 맞춤</a:t>
            </a:r>
            <a:endParaRPr lang="en-US" sz="1200" dirty="0"/>
          </a:p>
        </p:txBody>
      </p:sp>
      <p:sp>
        <p:nvSpPr>
          <p:cNvPr id="21" name="icon-circle"/>
          <p:cNvSpPr/>
          <p:nvPr/>
        </p:nvSpPr>
        <p:spPr>
          <a:xfrm>
            <a:off x="4754880" y="414223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22" name="Image 6" descr="FaBalanceSca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978" y="4237330"/>
            <a:ext cx="175565" cy="17556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257800" y="40690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 상세·비교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#/food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프로필·질문과 답변·비교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475488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ARCHITECTURE · 05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754880" y="6217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· MY · 운영</a:t>
            </a:r>
            <a:endParaRPr lang="en-US" sz="2600" dirty="0"/>
          </a:p>
        </p:txBody>
      </p:sp>
      <p:sp>
        <p:nvSpPr>
          <p:cNvPr id="4" name="phone-panel"/>
          <p:cNvSpPr/>
          <p:nvPr/>
        </p:nvSpPr>
        <p:spPr>
          <a:xfrm>
            <a:off x="548640" y="502920"/>
            <a:ext cx="3840480" cy="4114800"/>
          </a:xfrm>
          <a:prstGeom prst="roundRect">
            <a:avLst>
              <a:gd name="adj" fmla="val 3333"/>
            </a:avLst>
          </a:prstGeom>
          <a:solidFill>
            <a:srgbClr val="DCEDF1"/>
          </a:solidFill>
          <a:ln w="9525">
            <a:solidFill>
              <a:srgbClr val="DCEDF1"/>
            </a:solidFill>
            <a:prstDash val="solid"/>
          </a:ln>
        </p:spPr>
      </p:sp>
      <p:sp>
        <p:nvSpPr>
          <p:cNvPr id="5" name="phone-frame"/>
          <p:cNvSpPr/>
          <p:nvPr/>
        </p:nvSpPr>
        <p:spPr>
          <a:xfrm>
            <a:off x="868680" y="777240"/>
            <a:ext cx="1554480" cy="2980944"/>
          </a:xfrm>
          <a:prstGeom prst="roundRect">
            <a:avLst>
              <a:gd name="adj" fmla="val 9412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화면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2688" y="841248"/>
            <a:ext cx="1426464" cy="2852928"/>
          </a:xfrm>
          <a:prstGeom prst="rect">
            <a:avLst/>
          </a:prstGeom>
        </p:spPr>
      </p:pic>
      <p:sp>
        <p:nvSpPr>
          <p:cNvPr id="7" name="phone-frame"/>
          <p:cNvSpPr/>
          <p:nvPr/>
        </p:nvSpPr>
        <p:spPr>
          <a:xfrm>
            <a:off x="2514600" y="1325880"/>
            <a:ext cx="1554480" cy="2980944"/>
          </a:xfrm>
          <a:prstGeom prst="roundRect">
            <a:avLst>
              <a:gd name="adj" fmla="val 9412"/>
            </a:avLst>
          </a:prstGeom>
          <a:solidFill>
            <a:srgbClr val="263E47"/>
          </a:solidFill>
          <a:ln w="12700">
            <a:solidFill>
              <a:srgbClr val="3B59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화면 2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78608" y="1389888"/>
            <a:ext cx="1426464" cy="2852928"/>
          </a:xfrm>
          <a:prstGeom prst="rect">
            <a:avLst/>
          </a:prstGeom>
        </p:spPr>
      </p:pic>
      <p:sp>
        <p:nvSpPr>
          <p:cNvPr id="9" name="icon-circle"/>
          <p:cNvSpPr/>
          <p:nvPr/>
        </p:nvSpPr>
        <p:spPr>
          <a:xfrm>
            <a:off x="4754880" y="158191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0" name="Image 2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78" y="1677010"/>
            <a:ext cx="175565" cy="1755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57800" y="15087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가입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auth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+ Google 로그인, 계정 찾기</a:t>
            </a:r>
            <a:endParaRPr lang="en-US" sz="1200" dirty="0"/>
          </a:p>
        </p:txBody>
      </p:sp>
      <p:sp>
        <p:nvSpPr>
          <p:cNvPr id="12" name="icon-circle"/>
          <p:cNvSpPr/>
          <p:nvPr/>
        </p:nvSpPr>
        <p:spPr>
          <a:xfrm>
            <a:off x="4754880" y="222199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3" name="Image 3" descr="FaUserCo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978" y="2317090"/>
            <a:ext cx="175565" cy="1755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57800" y="214884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#/me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언어, 내 취향, 데이터 내려받기·삭제</a:t>
            </a:r>
            <a:endParaRPr lang="en-US" sz="1200" dirty="0"/>
          </a:p>
        </p:txBody>
      </p:sp>
      <p:sp>
        <p:nvSpPr>
          <p:cNvPr id="15" name="icon-circle"/>
          <p:cNvSpPr/>
          <p:nvPr/>
        </p:nvSpPr>
        <p:spPr>
          <a:xfrm>
            <a:off x="4754880" y="286207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6" name="Image 4" descr="FaList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978" y="2957170"/>
            <a:ext cx="175565" cy="17556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57800" y="278892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신청 내역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#/requests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신청 확인·취소, 후기 작성</a:t>
            </a:r>
            <a:endParaRPr lang="en-US" sz="1200" dirty="0"/>
          </a:p>
        </p:txBody>
      </p:sp>
      <p:sp>
        <p:nvSpPr>
          <p:cNvPr id="18" name="icon-circle"/>
          <p:cNvSpPr/>
          <p:nvPr/>
        </p:nvSpPr>
        <p:spPr>
          <a:xfrm>
            <a:off x="4754880" y="350215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19" name="Image 5" descr="FaUser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978" y="3597250"/>
            <a:ext cx="175565" cy="17556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57800" y="34290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화면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#/admin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 확인·신고 검수 (운영자 전용)</a:t>
            </a:r>
            <a:endParaRPr lang="en-US" sz="1200" dirty="0"/>
          </a:p>
        </p:txBody>
      </p:sp>
      <p:sp>
        <p:nvSpPr>
          <p:cNvPr id="21" name="icon-circle"/>
          <p:cNvSpPr/>
          <p:nvPr/>
        </p:nvSpPr>
        <p:spPr>
          <a:xfrm>
            <a:off x="4754880" y="4142232"/>
            <a:ext cx="365760" cy="365760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pic>
        <p:nvPicPr>
          <p:cNvPr id="22" name="Image 6" descr="FaFileContrac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978" y="4237330"/>
            <a:ext cx="175565" cy="17556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257800" y="40690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방침</a:t>
            </a:r>
            <a:pPr indent="0" marL="0">
              <a:buNone/>
            </a:pPr>
            <a:r>
              <a:rPr lang="en-US" sz="9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#/legal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이용약관, 개인정보 처리방침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MATCHING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기반 현지인 추천</a:t>
            </a:r>
            <a:endParaRPr lang="en-US" sz="2800" dirty="0"/>
          </a:p>
        </p:txBody>
      </p:sp>
      <p:sp>
        <p:nvSpPr>
          <p:cNvPr id="4" name="chart-card"/>
          <p:cNvSpPr/>
          <p:nvPr/>
        </p:nvSpPr>
        <p:spPr>
          <a:xfrm>
            <a:off x="548640" y="1508760"/>
            <a:ext cx="393192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점수 가중치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920240"/>
          <a:ext cx="37490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tep-row"/>
          <p:cNvSpPr/>
          <p:nvPr/>
        </p:nvSpPr>
        <p:spPr>
          <a:xfrm>
            <a:off x="4754880" y="155448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8" name="step-dot"/>
          <p:cNvSpPr/>
          <p:nvPr/>
        </p:nvSpPr>
        <p:spPr>
          <a:xfrm>
            <a:off x="4864608" y="1627632"/>
            <a:ext cx="310896" cy="310896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64608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1554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취향과 조건 선택 (관심사 1개 이상)</a:t>
            </a:r>
            <a:endParaRPr lang="en-US" sz="1150" dirty="0"/>
          </a:p>
        </p:txBody>
      </p:sp>
      <p:sp>
        <p:nvSpPr>
          <p:cNvPr id="11" name="step-row"/>
          <p:cNvSpPr/>
          <p:nvPr/>
        </p:nvSpPr>
        <p:spPr>
          <a:xfrm>
            <a:off x="4754880" y="210312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12" name="step-dot"/>
          <p:cNvSpPr/>
          <p:nvPr/>
        </p:nvSpPr>
        <p:spPr>
          <a:xfrm>
            <a:off x="4864608" y="2176272"/>
            <a:ext cx="310896" cy="310896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64608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함수 recommend_hosts가 점수 계산</a:t>
            </a:r>
            <a:endParaRPr lang="en-US" sz="1150" dirty="0"/>
          </a:p>
        </p:txBody>
      </p:sp>
      <p:sp>
        <p:nvSpPr>
          <p:cNvPr id="15" name="step-row"/>
          <p:cNvSpPr/>
          <p:nvPr/>
        </p:nvSpPr>
        <p:spPr>
          <a:xfrm>
            <a:off x="4754880" y="265176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16" name="step-dot"/>
          <p:cNvSpPr/>
          <p:nvPr/>
        </p:nvSpPr>
        <p:spPr>
          <a:xfrm>
            <a:off x="4864608" y="2724912"/>
            <a:ext cx="310896" cy="310896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64608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높은 현지인 5명 추천</a:t>
            </a:r>
            <a:endParaRPr lang="en-US" sz="1150" dirty="0"/>
          </a:p>
        </p:txBody>
      </p:sp>
      <p:sp>
        <p:nvSpPr>
          <p:cNvPr id="19" name="step-row"/>
          <p:cNvSpPr/>
          <p:nvPr/>
        </p:nvSpPr>
        <p:spPr>
          <a:xfrm>
            <a:off x="4754880" y="320040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20" name="step-dot"/>
          <p:cNvSpPr/>
          <p:nvPr/>
        </p:nvSpPr>
        <p:spPr>
          <a:xfrm>
            <a:off x="4864608" y="3273552"/>
            <a:ext cx="310896" cy="310896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64608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확인 후 매칭 요청</a:t>
            </a:r>
            <a:endParaRPr lang="en-US" sz="1150" dirty="0"/>
          </a:p>
        </p:txBody>
      </p:sp>
      <p:sp>
        <p:nvSpPr>
          <p:cNvPr id="23" name="step-row"/>
          <p:cNvSpPr/>
          <p:nvPr/>
        </p:nvSpPr>
        <p:spPr>
          <a:xfrm>
            <a:off x="4754880" y="3749040"/>
            <a:ext cx="384048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24" name="step-dot"/>
          <p:cNvSpPr/>
          <p:nvPr/>
        </p:nvSpPr>
        <p:spPr>
          <a:xfrm>
            <a:off x="4864608" y="3822192"/>
            <a:ext cx="310896" cy="310896"/>
          </a:xfrm>
          <a:prstGeom prst="ellipse">
            <a:avLst/>
          </a:prstGeom>
          <a:solidFill>
            <a:srgbClr val="1D5C6B"/>
          </a:solidFill>
          <a:ln w="6350">
            <a:solidFill>
              <a:srgbClr val="1D5C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64608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303520" y="3749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수락 → 1:1 채팅 → 만남 → 후기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4754880" y="4389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상태</a:t>
            </a:r>
            <a:endParaRPr lang="en-US" sz="1000" dirty="0"/>
          </a:p>
        </p:txBody>
      </p:sp>
      <p:sp>
        <p:nvSpPr>
          <p:cNvPr id="28" name="chip"/>
          <p:cNvSpPr/>
          <p:nvPr/>
        </p:nvSpPr>
        <p:spPr>
          <a:xfrm>
            <a:off x="5577840" y="4389120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77840" y="43891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</a:t>
            </a:r>
            <a:endParaRPr lang="en-US" sz="750" dirty="0"/>
          </a:p>
        </p:txBody>
      </p:sp>
      <p:sp>
        <p:nvSpPr>
          <p:cNvPr id="30" name="chip"/>
          <p:cNvSpPr/>
          <p:nvPr/>
        </p:nvSpPr>
        <p:spPr>
          <a:xfrm>
            <a:off x="6190488" y="4389120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90488" y="43891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accepted</a:t>
            </a:r>
            <a:endParaRPr lang="en-US" sz="750" dirty="0"/>
          </a:p>
        </p:txBody>
      </p:sp>
      <p:sp>
        <p:nvSpPr>
          <p:cNvPr id="32" name="chip"/>
          <p:cNvSpPr/>
          <p:nvPr/>
        </p:nvSpPr>
        <p:spPr>
          <a:xfrm>
            <a:off x="6803136" y="4389120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03136" y="43891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declined</a:t>
            </a:r>
            <a:endParaRPr lang="en-US" sz="750" dirty="0"/>
          </a:p>
        </p:txBody>
      </p:sp>
      <p:sp>
        <p:nvSpPr>
          <p:cNvPr id="34" name="chip"/>
          <p:cNvSpPr/>
          <p:nvPr/>
        </p:nvSpPr>
        <p:spPr>
          <a:xfrm>
            <a:off x="7415784" y="4389120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15784" y="43891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cancelled</a:t>
            </a:r>
            <a:endParaRPr lang="en-US" sz="750" dirty="0"/>
          </a:p>
        </p:txBody>
      </p:sp>
      <p:sp>
        <p:nvSpPr>
          <p:cNvPr id="36" name="chip"/>
          <p:cNvSpPr/>
          <p:nvPr/>
        </p:nvSpPr>
        <p:spPr>
          <a:xfrm>
            <a:off x="8028432" y="4389120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28432" y="43891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completed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신뢰를 지키는 규칙</a:t>
            </a:r>
            <a:endParaRPr lang="en-US" sz="2800" dirty="0"/>
          </a:p>
        </p:txBody>
      </p:sp>
      <p:sp>
        <p:nvSpPr>
          <p:cNvPr id="4" name="trust-card"/>
          <p:cNvSpPr/>
          <p:nvPr/>
        </p:nvSpPr>
        <p:spPr>
          <a:xfrm>
            <a:off x="548640" y="155448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누적 시 검수 대기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사용자 신고가 3건 이상이면 ‘검수 대기’로 전환돼요.</a:t>
            </a:r>
            <a:endParaRPr lang="en-US" sz="1100" dirty="0"/>
          </a:p>
        </p:txBody>
      </p:sp>
      <p:sp>
        <p:nvSpPr>
          <p:cNvPr id="8" name="trust-card"/>
          <p:cNvSpPr/>
          <p:nvPr/>
        </p:nvSpPr>
        <p:spPr>
          <a:xfrm>
            <a:off x="3291840" y="155448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737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‘여전히 맞아요’ 최근 확인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90일 안의 확인을 ‘최근 확인’으로 봐요.</a:t>
            </a:r>
            <a:endParaRPr lang="en-US" sz="1100" dirty="0"/>
          </a:p>
        </p:txBody>
      </p:sp>
      <p:sp>
        <p:nvSpPr>
          <p:cNvPr id="12" name="trust-card"/>
          <p:cNvSpPr/>
          <p:nvPr/>
        </p:nvSpPr>
        <p:spPr>
          <a:xfrm>
            <a:off x="6035040" y="155448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737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‘오래됨’ 신고 누적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날짜와 관계없이 ‘정보 오래됨’으로 표시해요.</a:t>
            </a:r>
            <a:endParaRPr lang="en-US" sz="1100" dirty="0"/>
          </a:p>
        </p:txBody>
      </p:sp>
      <p:sp>
        <p:nvSpPr>
          <p:cNvPr id="16" name="badge-band"/>
          <p:cNvSpPr/>
          <p:nvPr/>
        </p:nvSpPr>
        <p:spPr>
          <a:xfrm>
            <a:off x="548640" y="3749040"/>
            <a:ext cx="8046720" cy="868680"/>
          </a:xfrm>
          <a:prstGeom prst="roundRect">
            <a:avLst>
              <a:gd name="adj" fmla="val 14737"/>
            </a:avLst>
          </a:prstGeom>
          <a:solidFill>
            <a:srgbClr val="0D2B33"/>
          </a:solidFill>
          <a:ln w="9525">
            <a:solidFill>
              <a:srgbClr val="0D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22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글에 붙는 신뢰 표시</a:t>
            </a:r>
            <a:endParaRPr lang="en-US" sz="1150" dirty="0"/>
          </a:p>
        </p:txBody>
      </p:sp>
      <p:sp>
        <p:nvSpPr>
          <p:cNvPr id="18" name="chip"/>
          <p:cNvSpPr/>
          <p:nvPr/>
        </p:nvSpPr>
        <p:spPr>
          <a:xfrm>
            <a:off x="777240" y="413308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53C46"/>
          </a:solidFill>
          <a:ln w="6350">
            <a:solidFill>
              <a:srgbClr val="153C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1330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방문일·작성일</a:t>
            </a:r>
            <a:endParaRPr lang="en-US" sz="1100" dirty="0"/>
          </a:p>
        </p:txBody>
      </p:sp>
      <p:sp>
        <p:nvSpPr>
          <p:cNvPr id="20" name="chip"/>
          <p:cNvSpPr/>
          <p:nvPr/>
        </p:nvSpPr>
        <p:spPr>
          <a:xfrm>
            <a:off x="2697480" y="413308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53C46"/>
          </a:solidFill>
          <a:ln w="6350">
            <a:solidFill>
              <a:srgbClr val="153C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97480" y="41330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선언</a:t>
            </a:r>
            <a:endParaRPr lang="en-US" sz="1100" dirty="0"/>
          </a:p>
        </p:txBody>
      </p:sp>
      <p:sp>
        <p:nvSpPr>
          <p:cNvPr id="22" name="chip"/>
          <p:cNvSpPr/>
          <p:nvPr/>
        </p:nvSpPr>
        <p:spPr>
          <a:xfrm>
            <a:off x="4617720" y="413308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53C46"/>
          </a:solidFill>
          <a:ln w="6350">
            <a:solidFill>
              <a:srgbClr val="153C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41330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체크인</a:t>
            </a:r>
            <a:endParaRPr lang="en-US" sz="1100" dirty="0"/>
          </a:p>
        </p:txBody>
      </p:sp>
      <p:sp>
        <p:nvSpPr>
          <p:cNvPr id="24" name="chip"/>
          <p:cNvSpPr/>
          <p:nvPr/>
        </p:nvSpPr>
        <p:spPr>
          <a:xfrm>
            <a:off x="6537960" y="413308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53C46"/>
          </a:solidFill>
          <a:ln w="6350">
            <a:solidFill>
              <a:srgbClr val="153C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41330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협찬·광고 표기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4" name="stack-card"/>
          <p:cNvSpPr/>
          <p:nvPr/>
        </p:nvSpPr>
        <p:spPr>
          <a:xfrm>
            <a:off x="548640" y="1508760"/>
            <a:ext cx="25603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pic>
        <p:nvPicPr>
          <p:cNvPr id="5" name="Image 0" descr="FaLaptop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691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/ CSS / JS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도구 없는 ES 모듈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157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해시(#/) 기반 화면 전환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912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Leaflet + OpenStreetMap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667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6개 언어 (한국어 외 번역 검수 전)</a:t>
            </a:r>
            <a:endParaRPr lang="en-US" sz="1200" dirty="0"/>
          </a:p>
        </p:txBody>
      </p:sp>
      <p:sp>
        <p:nvSpPr>
          <p:cNvPr id="11" name="stack-card"/>
          <p:cNvSpPr/>
          <p:nvPr/>
        </p:nvSpPr>
        <p:spPr>
          <a:xfrm>
            <a:off x="3291840" y="1508760"/>
            <a:ext cx="25603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pic>
        <p:nvPicPr>
          <p:cNvPr id="12" name="Image 1" descr="Fa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916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50208" y="1691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2402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BaaS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7157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· Google OAuth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31912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로직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함수(RPC)·트리거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520440" y="36667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메시지 Realtime 구독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520440" y="41422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서버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(server.mjs)</a:t>
            </a:r>
            <a:endParaRPr lang="en-US" sz="1200" dirty="0"/>
          </a:p>
        </p:txBody>
      </p:sp>
      <p:sp>
        <p:nvSpPr>
          <p:cNvPr id="19" name="stack-card"/>
          <p:cNvSpPr/>
          <p:nvPr/>
        </p:nvSpPr>
        <p:spPr>
          <a:xfrm>
            <a:off x="6035040" y="1508760"/>
            <a:ext cx="25603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pic>
        <p:nvPicPr>
          <p:cNvPr id="20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693408" y="1691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&amp; API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2402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+ 행 단위 보안(RLS)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27157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trip-photos · avatars 버킷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263640" y="31912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supabase-js v2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263640" y="36667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Open-Meteo(날씨), OpenStreetMap(타일)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ARCHITECTURE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BASE 구조 (SQL 스키마 기준)</a:t>
            </a:r>
            <a:endParaRPr lang="en-US" sz="2800" dirty="0"/>
          </a:p>
        </p:txBody>
      </p:sp>
      <p:sp>
        <p:nvSpPr>
          <p:cNvPr id="4" name="table-head"/>
          <p:cNvSpPr/>
          <p:nvPr/>
        </p:nvSpPr>
        <p:spPr>
          <a:xfrm>
            <a:off x="548640" y="1508760"/>
            <a:ext cx="8046720" cy="384048"/>
          </a:xfrm>
          <a:prstGeom prst="roundRect">
            <a:avLst>
              <a:gd name="adj" fmla="val 23810"/>
            </a:avLst>
          </a:prstGeom>
          <a:solidFill>
            <a:srgbClr val="0D2B33"/>
          </a:solidFill>
          <a:ln w="6350">
            <a:solidFill>
              <a:srgbClr val="0D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508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목적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08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테이블</a:t>
            </a:r>
            <a:endParaRPr lang="en-US" sz="1150" dirty="0"/>
          </a:p>
        </p:txBody>
      </p:sp>
      <p:sp>
        <p:nvSpPr>
          <p:cNvPr id="8" name="table-row"/>
          <p:cNvSpPr/>
          <p:nvPr/>
        </p:nvSpPr>
        <p:spPr>
          <a:xfrm>
            <a:off x="548640" y="1920240"/>
            <a:ext cx="8046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2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2024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사용자·프로필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9202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회원, 취향, 현지인 프로필 관리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92024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profiles · taste_profiles · host_profiles · host_languages · host_interests · availability · favorites</a:t>
            </a:r>
            <a:endParaRPr lang="en-US" sz="900" dirty="0"/>
          </a:p>
        </p:txBody>
      </p:sp>
      <p:sp>
        <p:nvSpPr>
          <p:cNvPr id="12" name="table-row"/>
          <p:cNvSpPr/>
          <p:nvPr/>
        </p:nvSpPr>
        <p:spPr>
          <a:xfrm>
            <a:off x="548640" y="2432304"/>
            <a:ext cx="8046720" cy="512064"/>
          </a:xfrm>
          <a:prstGeom prst="rect">
            <a:avLst/>
          </a:prstGeom>
          <a:solidFill>
            <a:srgbClr val="FAF9F6"/>
          </a:solidFill>
          <a:ln w="6350">
            <a:solidFill>
              <a:srgbClr val="E5E2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43230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콘텐츠·장소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4323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도시·동네·장소와 추천 글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43230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cities · neighborhoods · places · contents · content_translations · saved_places · city_requests</a:t>
            </a:r>
            <a:endParaRPr lang="en-US" sz="900" dirty="0"/>
          </a:p>
        </p:txBody>
      </p:sp>
      <p:sp>
        <p:nvSpPr>
          <p:cNvPr id="16" name="table-row"/>
          <p:cNvSpPr/>
          <p:nvPr/>
        </p:nvSpPr>
        <p:spPr>
          <a:xfrm>
            <a:off x="548640" y="2944368"/>
            <a:ext cx="8046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2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9443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여행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294436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일정, 기록, 예산, 준비물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94436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trips · trip_items · trip_journal · trip_photos · expenses · checklist_items</a:t>
            </a:r>
            <a:endParaRPr lang="en-US" sz="900" dirty="0"/>
          </a:p>
        </p:txBody>
      </p:sp>
      <p:sp>
        <p:nvSpPr>
          <p:cNvPr id="20" name="table-row"/>
          <p:cNvSpPr/>
          <p:nvPr/>
        </p:nvSpPr>
        <p:spPr>
          <a:xfrm>
            <a:off x="548640" y="3456432"/>
            <a:ext cx="8046720" cy="512064"/>
          </a:xfrm>
          <a:prstGeom prst="rect">
            <a:avLst/>
          </a:prstGeom>
          <a:solidFill>
            <a:srgbClr val="FAF9F6"/>
          </a:solidFill>
          <a:ln w="6350">
            <a:solidFill>
              <a:srgbClr val="E5E2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45643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매칭·소통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4564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요청, 채팅, 후기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45643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match_requests · conversations · messages · reviews · blocks</a:t>
            </a:r>
            <a:endParaRPr lang="en-US" sz="900" dirty="0"/>
          </a:p>
        </p:txBody>
      </p:sp>
      <p:sp>
        <p:nvSpPr>
          <p:cNvPr id="24" name="table-row"/>
          <p:cNvSpPr/>
          <p:nvPr/>
        </p:nvSpPr>
        <p:spPr>
          <a:xfrm>
            <a:off x="548640" y="3968496"/>
            <a:ext cx="8046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2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684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신뢰·운영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39684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신고, 검수, 운영 기록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396849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reports · content_confirmations · place_confirmations · admin_actions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55371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docs/supabase_schema.sql 및 마이그레이션 SQL의 테이블 정의 기준 요약이에요 (보조 테이블 일부 생략).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SECURITY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규칙과 서버 함수</a:t>
            </a:r>
            <a:endParaRPr lang="en-US" sz="2800" dirty="0"/>
          </a:p>
        </p:txBody>
      </p:sp>
      <p:sp>
        <p:nvSpPr>
          <p:cNvPr id="4" name="rls-card"/>
          <p:cNvSpPr/>
          <p:nvPr/>
        </p:nvSpPr>
        <p:spPr>
          <a:xfrm>
            <a:off x="548640" y="1508760"/>
            <a:ext cx="3566160" cy="3154680"/>
          </a:xfrm>
          <a:prstGeom prst="roundRect">
            <a:avLst>
              <a:gd name="adj" fmla="val 4058"/>
            </a:avLst>
          </a:prstGeom>
          <a:solidFill>
            <a:srgbClr val="0D2B33"/>
          </a:solidFill>
          <a:ln w="9525">
            <a:solidFill>
              <a:srgbClr val="0D2B33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4A9FB0"/>
          </a:solidFill>
          <a:ln w="6350">
            <a:solidFill>
              <a:srgbClr val="4A9FB0"/>
            </a:solidFill>
            <a:prstDash val="solid"/>
          </a:ln>
        </p:spPr>
      </p:sp>
      <p:pic>
        <p:nvPicPr>
          <p:cNvPr id="6" name="Image 0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0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규칙 (RLS)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테이블에 행 단위 보안(RLS) 정책 적용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여행은 소유자만 접근 (owns_trip)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차단한 사용자 숨김 (is_blocked)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기능은 admin_guard로 권한 확인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브라우저에는 공개용 키만 사용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함수 (RPC)</a:t>
            </a:r>
            <a:endParaRPr lang="en-US" sz="1500" dirty="0"/>
          </a:p>
        </p:txBody>
      </p:sp>
      <p:sp>
        <p:nvSpPr>
          <p:cNvPr id="10" name="fn-row"/>
          <p:cNvSpPr/>
          <p:nvPr/>
        </p:nvSpPr>
        <p:spPr>
          <a:xfrm>
            <a:off x="4480560" y="1874520"/>
            <a:ext cx="4114800" cy="393192"/>
          </a:xfrm>
          <a:prstGeom prst="roundRect">
            <a:avLst>
              <a:gd name="adj" fmla="val 32558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11" name="chip"/>
          <p:cNvSpPr/>
          <p:nvPr/>
        </p:nvSpPr>
        <p:spPr>
          <a:xfrm>
            <a:off x="4572000" y="1938528"/>
            <a:ext cx="1691640" cy="265176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93852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recommend_hosts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187452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점수로 현지인 추천</a:t>
            </a:r>
            <a:endParaRPr lang="en-US" sz="1100" dirty="0"/>
          </a:p>
        </p:txBody>
      </p:sp>
      <p:sp>
        <p:nvSpPr>
          <p:cNvPr id="14" name="fn-row"/>
          <p:cNvSpPr/>
          <p:nvPr/>
        </p:nvSpPr>
        <p:spPr>
          <a:xfrm>
            <a:off x="4480560" y="2340864"/>
            <a:ext cx="4114800" cy="393192"/>
          </a:xfrm>
          <a:prstGeom prst="roundRect">
            <a:avLst>
              <a:gd name="adj" fmla="val 32558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15" name="chip"/>
          <p:cNvSpPr/>
          <p:nvPr/>
        </p:nvSpPr>
        <p:spPr>
          <a:xfrm>
            <a:off x="4572000" y="2404872"/>
            <a:ext cx="1691640" cy="265176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2404872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create_match_request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34086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요청 생성</a:t>
            </a:r>
            <a:endParaRPr lang="en-US" sz="1100" dirty="0"/>
          </a:p>
        </p:txBody>
      </p:sp>
      <p:sp>
        <p:nvSpPr>
          <p:cNvPr id="18" name="fn-row"/>
          <p:cNvSpPr/>
          <p:nvPr/>
        </p:nvSpPr>
        <p:spPr>
          <a:xfrm>
            <a:off x="4480560" y="2807208"/>
            <a:ext cx="4114800" cy="393192"/>
          </a:xfrm>
          <a:prstGeom prst="roundRect">
            <a:avLst>
              <a:gd name="adj" fmla="val 32558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19" name="chip"/>
          <p:cNvSpPr/>
          <p:nvPr/>
        </p:nvSpPr>
        <p:spPr>
          <a:xfrm>
            <a:off x="4572000" y="2871216"/>
            <a:ext cx="1691640" cy="265176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0" y="2871216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respond_match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280720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수락·거절</a:t>
            </a:r>
            <a:endParaRPr lang="en-US" sz="1100" dirty="0"/>
          </a:p>
        </p:txBody>
      </p:sp>
      <p:sp>
        <p:nvSpPr>
          <p:cNvPr id="22" name="fn-row"/>
          <p:cNvSpPr/>
          <p:nvPr/>
        </p:nvSpPr>
        <p:spPr>
          <a:xfrm>
            <a:off x="4480560" y="3273552"/>
            <a:ext cx="4114800" cy="393192"/>
          </a:xfrm>
          <a:prstGeom prst="roundRect">
            <a:avLst>
              <a:gd name="adj" fmla="val 32558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23" name="chip"/>
          <p:cNvSpPr/>
          <p:nvPr/>
        </p:nvSpPr>
        <p:spPr>
          <a:xfrm>
            <a:off x="4572000" y="3337560"/>
            <a:ext cx="1691640" cy="265176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0" y="333756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verify_checkin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3273552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체크인 확인</a:t>
            </a:r>
            <a:endParaRPr lang="en-US" sz="1100" dirty="0"/>
          </a:p>
        </p:txBody>
      </p:sp>
      <p:sp>
        <p:nvSpPr>
          <p:cNvPr id="26" name="fn-row"/>
          <p:cNvSpPr/>
          <p:nvPr/>
        </p:nvSpPr>
        <p:spPr>
          <a:xfrm>
            <a:off x="4480560" y="3739896"/>
            <a:ext cx="4114800" cy="393192"/>
          </a:xfrm>
          <a:prstGeom prst="roundRect">
            <a:avLst>
              <a:gd name="adj" fmla="val 32558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27" name="chip"/>
          <p:cNvSpPr/>
          <p:nvPr/>
        </p:nvSpPr>
        <p:spPr>
          <a:xfrm>
            <a:off x="4572000" y="3803904"/>
            <a:ext cx="1691640" cy="265176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0" y="3803904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mark_read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739896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읽음 처리</a:t>
            </a:r>
            <a:endParaRPr lang="en-US" sz="1100" dirty="0"/>
          </a:p>
        </p:txBody>
      </p:sp>
      <p:sp>
        <p:nvSpPr>
          <p:cNvPr id="30" name="fn-row"/>
          <p:cNvSpPr/>
          <p:nvPr/>
        </p:nvSpPr>
        <p:spPr>
          <a:xfrm>
            <a:off x="4480560" y="4206240"/>
            <a:ext cx="4114800" cy="393192"/>
          </a:xfrm>
          <a:prstGeom prst="roundRect">
            <a:avLst>
              <a:gd name="adj" fmla="val 32558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31" name="chip"/>
          <p:cNvSpPr/>
          <p:nvPr/>
        </p:nvSpPr>
        <p:spPr>
          <a:xfrm>
            <a:off x="4572000" y="4270248"/>
            <a:ext cx="1691640" cy="265176"/>
          </a:xfrm>
          <a:prstGeom prst="roundRect">
            <a:avLst>
              <a:gd name="adj" fmla="val 50000"/>
            </a:avLst>
          </a:prstGeom>
          <a:solidFill>
            <a:srgbClr val="DCEDF1"/>
          </a:solidFill>
          <a:ln w="6350">
            <a:solidFill>
              <a:srgbClr val="DCEDF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0" y="4270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admin_*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20624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 확인·신고 검수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및 인프라 구조 (배포 전 초안)</a:t>
            </a:r>
            <a:endParaRPr lang="en-US" sz="2800" dirty="0"/>
          </a:p>
        </p:txBody>
      </p:sp>
      <p:sp>
        <p:nvSpPr>
          <p:cNvPr id="4" name="chip"/>
          <p:cNvSpPr/>
          <p:nvPr/>
        </p:nvSpPr>
        <p:spPr>
          <a:xfrm>
            <a:off x="6400800" y="34747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6E7D8"/>
          </a:solidFill>
          <a:ln w="6350">
            <a:solidFill>
              <a:srgbClr val="F6E7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0" y="347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· 배포 후 확정</a:t>
            </a:r>
            <a:endParaRPr lang="en-US" sz="900" dirty="0"/>
          </a:p>
        </p:txBody>
      </p:sp>
      <p:sp>
        <p:nvSpPr>
          <p:cNvPr id="6" name="node-user"/>
          <p:cNvSpPr/>
          <p:nvPr/>
        </p:nvSpPr>
        <p:spPr>
          <a:xfrm>
            <a:off x="548640" y="1554480"/>
            <a:ext cx="1737360" cy="1554480"/>
          </a:xfrm>
          <a:prstGeom prst="roundRect">
            <a:avLst>
              <a:gd name="adj" fmla="val 8235"/>
            </a:avLst>
          </a:prstGeom>
          <a:solidFill>
            <a:srgbClr val="0D2B33"/>
          </a:solidFill>
          <a:ln w="9525">
            <a:solidFill>
              <a:srgbClr val="0D2B33"/>
            </a:solidFill>
            <a:prstDash val="solid"/>
          </a:ln>
        </p:spPr>
      </p:sp>
      <p:sp>
        <p:nvSpPr>
          <p:cNvPr id="7" name="icon-circle"/>
          <p:cNvSpPr/>
          <p:nvPr/>
        </p:nvSpPr>
        <p:spPr>
          <a:xfrm>
            <a:off x="1097280" y="1691640"/>
            <a:ext cx="457200" cy="457200"/>
          </a:xfrm>
          <a:prstGeom prst="ellipse">
            <a:avLst/>
          </a:prstGeom>
          <a:solidFill>
            <a:srgbClr val="4A9FB0"/>
          </a:solidFill>
          <a:ln w="6350">
            <a:solidFill>
              <a:srgbClr val="4A9FB0"/>
            </a:solidFill>
            <a:prstDash val="solid"/>
          </a:ln>
        </p:spPr>
      </p:sp>
      <p:pic>
        <p:nvPicPr>
          <p:cNvPr id="8" name="Image 0" descr="FaGl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81051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9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브라우저 · 모바일</a:t>
            </a:r>
            <a:endParaRPr lang="en-US" sz="1050" dirty="0"/>
          </a:p>
        </p:txBody>
      </p:sp>
      <p:sp>
        <p:nvSpPr>
          <p:cNvPr id="11" name="node-vercel"/>
          <p:cNvSpPr/>
          <p:nvPr/>
        </p:nvSpPr>
        <p:spPr>
          <a:xfrm>
            <a:off x="3017520" y="1554480"/>
            <a:ext cx="256032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32004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호스팅 (Vercel 예정)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site/ 폴더를 그대로 서비스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· 보안 헤더 · 캐시 설정은 배포 후 확정</a:t>
            </a:r>
            <a:endParaRPr lang="en-US" sz="1100" dirty="0"/>
          </a:p>
        </p:txBody>
      </p:sp>
      <p:sp>
        <p:nvSpPr>
          <p:cNvPr id="15" name="node-supabase"/>
          <p:cNvSpPr/>
          <p:nvPr/>
        </p:nvSpPr>
        <p:spPr>
          <a:xfrm>
            <a:off x="6309360" y="1554480"/>
            <a:ext cx="2286000" cy="1554480"/>
          </a:xfrm>
          <a:prstGeom prst="roundRect">
            <a:avLst>
              <a:gd name="adj" fmla="val 8235"/>
            </a:avLst>
          </a:prstGeom>
          <a:solidFill>
            <a:srgbClr val="1D5C6B"/>
          </a:solidFill>
          <a:ln w="9525">
            <a:solidFill>
              <a:srgbClr val="1D5C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92240" y="1691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1031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(이메일 · Google)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+ RLS · 함수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 · Realtime</a:t>
            </a:r>
            <a:endParaRPr lang="en-US" sz="1100" dirty="0"/>
          </a:p>
        </p:txBody>
      </p:sp>
      <p:sp>
        <p:nvSpPr>
          <p:cNvPr id="18" name="arrow-1"/>
          <p:cNvSpPr/>
          <p:nvPr/>
        </p:nvSpPr>
        <p:spPr>
          <a:xfrm>
            <a:off x="2286000" y="2331720"/>
            <a:ext cx="731520" cy="0"/>
          </a:xfrm>
          <a:prstGeom prst="line">
            <a:avLst/>
          </a:prstGeom>
          <a:noFill/>
          <a:ln w="22225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9" name="arrow-2"/>
          <p:cNvSpPr/>
          <p:nvPr/>
        </p:nvSpPr>
        <p:spPr>
          <a:xfrm>
            <a:off x="5577840" y="2331720"/>
            <a:ext cx="731520" cy="0"/>
          </a:xfrm>
          <a:prstGeom prst="line">
            <a:avLst/>
          </a:prstGeom>
          <a:noFill/>
          <a:ln w="22225">
            <a:solidFill>
              <a:srgbClr val="1F2328"/>
            </a:solidFill>
            <a:prstDash val="solid"/>
            <a:headEnd type="triangle"/>
            <a:tailEnd type="triangle"/>
          </a:ln>
        </p:spPr>
      </p:sp>
      <p:sp>
        <p:nvSpPr>
          <p:cNvPr id="20" name="node-external"/>
          <p:cNvSpPr/>
          <p:nvPr/>
        </p:nvSpPr>
        <p:spPr>
          <a:xfrm>
            <a:off x="548640" y="3337560"/>
            <a:ext cx="39319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5E2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410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서비스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OAuth · Open-Meteo · OpenStreetMap</a:t>
            </a:r>
            <a:endParaRPr lang="en-US" sz="1100" dirty="0"/>
          </a:p>
        </p:txBody>
      </p:sp>
      <p:sp>
        <p:nvSpPr>
          <p:cNvPr id="23" name="node-tbd"/>
          <p:cNvSpPr/>
          <p:nvPr/>
        </p:nvSpPr>
        <p:spPr>
          <a:xfrm>
            <a:off x="4663440" y="3337560"/>
            <a:ext cx="39319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4892040" y="3410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채울 항목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89204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URL · 도메인 · 모니터링 · 백업</a:t>
            </a:r>
            <a:endParaRPr lang="en-US" sz="1100" dirty="0"/>
          </a:p>
        </p:txBody>
      </p:sp>
      <p:sp>
        <p:nvSpPr>
          <p:cNvPr id="26" name="deploy-check"/>
          <p:cNvSpPr/>
          <p:nvPr/>
        </p:nvSpPr>
        <p:spPr>
          <a:xfrm>
            <a:off x="548640" y="4279392"/>
            <a:ext cx="8046720" cy="411480"/>
          </a:xfrm>
          <a:prstGeom prst="roundRect">
            <a:avLst>
              <a:gd name="adj" fmla="val 31111"/>
            </a:avLst>
          </a:prstGeom>
          <a:solidFill>
            <a:srgbClr val="DCEDF1"/>
          </a:solidFill>
          <a:ln w="9525">
            <a:solidFill>
              <a:srgbClr val="DCEDF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42793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5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직후  </a:t>
            </a:r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URL을 Google OAuth·Supabase에 등록  →  예시 현지인 삭제  →  약관·방침 갱신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822960" y="1645920"/>
            <a:ext cx="384048" cy="384048"/>
          </a:xfrm>
          <a:prstGeom prst="ellipse">
            <a:avLst/>
          </a:prstGeom>
          <a:solidFill>
            <a:srgbClr val="4A9FB0"/>
          </a:solidFill>
          <a:ln w="6350">
            <a:solidFill>
              <a:srgbClr val="4A9FB0"/>
            </a:solidFill>
            <a:prstDash val="solid"/>
          </a:ln>
        </p:spPr>
      </p:sp>
      <p:pic>
        <p:nvPicPr>
          <p:cNvPr id="3" name="Image 0" descr="FaComp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12" y="1745772"/>
            <a:ext cx="184343" cy="18434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645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A9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 YOUR OWN WAY AROUND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194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Roamly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FB9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떠나도, 혼자 헤매지 않도록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8D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3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8D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mly">
  <a:themeElements>
    <a:clrScheme name="Roamly">
      <a:dk1>
        <a:srgbClr val="1F2328"/>
      </a:dk1>
      <a:lt1>
        <a:srgbClr val="FFFFFF"/>
      </a:lt1>
      <a:dk2>
        <a:srgbClr val="0D2B33"/>
      </a:dk2>
      <a:lt2>
        <a:srgbClr val="FAF9F6"/>
      </a:lt2>
      <a:accent1>
        <a:srgbClr val="1D5C6B"/>
      </a:accent1>
      <a:accent2>
        <a:srgbClr val="4A9FB0"/>
      </a:accent2>
      <a:accent3>
        <a:srgbClr val="B45309"/>
      </a:accent3>
      <a:accent4>
        <a:srgbClr val="DCEDF1"/>
      </a:accent4>
      <a:accent5>
        <a:srgbClr val="7A8B93"/>
      </a:accent5>
      <a:accent6>
        <a:srgbClr val="153C46"/>
      </a:accent6>
      <a:hlink>
        <a:srgbClr val="1D5C6B"/>
      </a:hlink>
      <a:folHlink>
        <a:srgbClr val="6B7280"/>
      </a:folHlink>
    </a:clrScheme>
    <a:fontScheme name="Roaml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Roamly 프로젝트 소개</dc:title>
  <dc:subject>PptxGenJS Presentation</dc:subject>
  <dc:creator>Roamly</dc:creator>
  <cp:lastModifiedBy>Roamly</cp:lastModifiedBy>
  <cp:revision>1</cp:revision>
  <dcterms:created xsi:type="dcterms:W3CDTF">2026-10-20T15:27:51Z</dcterms:created>
  <dcterms:modified xsi:type="dcterms:W3CDTF">2026-10-20T15:27:51Z</dcterms:modified>
</cp:coreProperties>
</file>